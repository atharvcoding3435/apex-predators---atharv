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4"/>
    <p:sldId id="259" r:id="rId5"/>
    <p:sldId id="260" r:id="rId6"/>
    <p:sldId id="261" r:id="rId7"/>
    <p:sldId id="262" r:id="rId8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B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30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46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50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21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696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30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42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55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3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747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3035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119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927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329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421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2841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CDCC7-EF56-4571-9DBF-9CACD38FF609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7B88E-FA01-46B2-86A0-FF354B231A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617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600"/>
              </a:lnSpc>
            </a:pPr>
            <a:r>
              <a:rPr sz="4400" b="1">
                <a:solidFill>
                  <a:srgbClr val="FFFFFF"/>
                </a:solidFill>
                <a:latin typeface="Century Gothic"/>
              </a:rPr>
              <a:t>Campus Resource Management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sz="2800" b="0">
                <a:solidFill>
                  <a:srgbClr val="FFFFFF"/>
                </a:solidFill>
                <a:latin typeface="Century Gothic"/>
              </a:rPr>
              <a:t>Proposed by: APEX PREDATORS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4747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60"/>
              </a:lnSpc>
            </a:pPr>
            <a:r>
              <a:rPr sz="1600" b="0">
                <a:solidFill>
                  <a:srgbClr val="FFFFFF"/>
                </a:solidFill>
                <a:latin typeface="Century Gothic"/>
              </a:rPr>
              <a:t>Team Members:</a:t>
            </a:r>
          </a:p>
          <a:p>
            <a:pPr algn="ctr">
              <a:lnSpc>
                <a:spcPts val="2560"/>
              </a:lnSpc>
            </a:pPr>
            <a:r>
              <a:rPr sz="1600" b="0">
                <a:solidFill>
                  <a:srgbClr val="FFFFFF"/>
                </a:solidFill>
                <a:latin typeface="Century Gothic"/>
              </a:rPr>
              <a:t>  [Name] — Team Lead</a:t>
            </a:r>
          </a:p>
          <a:p>
            <a:pPr algn="ctr">
              <a:lnSpc>
                <a:spcPts val="2560"/>
              </a:lnSpc>
            </a:pPr>
            <a:r>
              <a:rPr sz="1600" b="0">
                <a:solidFill>
                  <a:srgbClr val="FFFFFF"/>
                </a:solidFill>
                <a:latin typeface="Century Gothic"/>
              </a:rPr>
              <a:t>  [Name] — Backend Developer</a:t>
            </a:r>
          </a:p>
          <a:p>
            <a:pPr algn="ctr">
              <a:lnSpc>
                <a:spcPts val="2560"/>
              </a:lnSpc>
            </a:pPr>
            <a:r>
              <a:rPr sz="1600" b="0">
                <a:solidFill>
                  <a:srgbClr val="FFFFFF"/>
                </a:solidFill>
                <a:latin typeface="Century Gothic"/>
              </a:rPr>
              <a:t>  [Name] — Frontend Developer</a:t>
            </a:r>
          </a:p>
          <a:p>
            <a:pPr algn="ctr">
              <a:lnSpc>
                <a:spcPts val="2560"/>
              </a:lnSpc>
            </a:pPr>
            <a:r>
              <a:rPr sz="1600" b="0">
                <a:solidFill>
                  <a:srgbClr val="FFFFFF"/>
                </a:solidFill>
                <a:latin typeface="Century Gothic"/>
              </a:rPr>
              <a:t>  [Name] — Design &amp;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173364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</a:pPr>
            <a:r>
              <a:rPr sz="3200" b="1">
                <a:solidFill>
                  <a:srgbClr val="FFFFFF"/>
                </a:solidFill>
                <a:latin typeface="Century Gothic"/>
              </a:rPr>
              <a:t>The Problem &amp; The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931920" cy="457200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>
                <a:solidFill>
                  <a:srgbClr val="FFCCCC"/>
                </a:solidFill>
                <a:latin typeface="Century Gothic"/>
              </a:rPr>
              <a:t>PROBLEM: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>
                <a:solidFill>
                  <a:srgbClr val="FFFFFF"/>
                </a:solidFill>
                <a:latin typeface="Century Gothic"/>
              </a:rPr>
              <a:t>Paper ledgers &amp; messy spreadsheets</a:t>
            </a:r>
          </a:p>
          <a:p>
            <a:pPr algn="l">
              <a:lnSpc>
                <a:spcPts val="1950"/>
              </a:lnSpc>
            </a:pPr>
            <a:r>
              <a:rPr sz="1300" b="0">
                <a:solidFill>
                  <a:srgbClr val="FFFFFF"/>
                </a:solidFill>
                <a:latin typeface="Century Gothic"/>
              </a:rPr>
              <a:t>Double bookings &amp; scheduling overlap</a:t>
            </a:r>
          </a:p>
          <a:p>
            <a:pPr algn="l">
              <a:lnSpc>
                <a:spcPts val="1950"/>
              </a:lnSpc>
            </a:pPr>
            <a:r>
              <a:rPr sz="1300" b="0">
                <a:solidFill>
                  <a:srgbClr val="FFFFFF"/>
                </a:solidFill>
                <a:latin typeface="Century Gothic"/>
              </a:rPr>
              <a:t>Zero real-time availability checking</a:t>
            </a:r>
          </a:p>
          <a:p>
            <a:pPr algn="l">
              <a:lnSpc>
                <a:spcPts val="1950"/>
              </a:lnSpc>
            </a:pPr>
            <a:r>
              <a:rPr sz="1300" b="0">
                <a:solidFill>
                  <a:srgbClr val="FFFFFF"/>
                </a:solidFill>
                <a:latin typeface="Century Gothic"/>
              </a:rPr>
              <a:t>Manual, slow administrative approvals</a:t>
            </a:r>
          </a:p>
          <a:p>
            <a:pPr algn="l">
              <a:lnSpc>
                <a:spcPts val="1950"/>
              </a:lnSpc>
            </a:pPr>
            <a:r>
              <a:rPr sz="1300" b="0">
                <a:solidFill>
                  <a:srgbClr val="FFFFFF"/>
                </a:solidFill>
                <a:latin typeface="Century Gothic"/>
              </a:rPr>
              <a:t>Wasted facilities &amp; no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</a:pPr>
            <a:r>
              <a:rPr sz="3600" b="1">
                <a:solidFill>
                  <a:srgbClr val="00FF88"/>
                </a:solidFill>
                <a:latin typeface="Century Gothic"/>
              </a:rPr>
              <a:t>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097280"/>
            <a:ext cx="3931920" cy="457200"/>
          </a:xfrm>
          <a:prstGeom prst="roundRect">
            <a:avLst/>
          </a:prstGeom>
          <a:solidFill>
            <a:srgbClr val="006400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11556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>
                <a:solidFill>
                  <a:srgbClr val="CCFFCC"/>
                </a:solidFill>
                <a:latin typeface="Century Gothic"/>
              </a:rPr>
              <a:t>SOLUTION: CRMP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3736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>
                <a:solidFill>
                  <a:srgbClr val="FFFFFF"/>
                </a:solidFill>
                <a:latin typeface="Century Gothic"/>
              </a:rPr>
              <a:t>Unified digital cloud registry</a:t>
            </a:r>
          </a:p>
          <a:p>
            <a:pPr algn="l">
              <a:lnSpc>
                <a:spcPts val="1950"/>
              </a:lnSpc>
            </a:pPr>
            <a:r>
              <a:rPr sz="1300" b="0">
                <a:solidFill>
                  <a:srgbClr val="FFFFFF"/>
                </a:solidFill>
                <a:latin typeface="Century Gothic"/>
              </a:rPr>
              <a:t>Atomic DB-locking prevents double booking</a:t>
            </a:r>
          </a:p>
          <a:p>
            <a:pPr algn="l">
              <a:lnSpc>
                <a:spcPts val="1950"/>
              </a:lnSpc>
            </a:pPr>
            <a:r>
              <a:rPr sz="1300" b="0">
                <a:solidFill>
                  <a:srgbClr val="FFFFFF"/>
                </a:solidFill>
                <a:latin typeface="Century Gothic"/>
              </a:rPr>
              <a:t>Live calendar dashboard for all users</a:t>
            </a:r>
          </a:p>
          <a:p>
            <a:pPr algn="l">
              <a:lnSpc>
                <a:spcPts val="1950"/>
              </a:lnSpc>
            </a:pPr>
            <a:r>
              <a:rPr sz="1300" b="0">
                <a:solidFill>
                  <a:srgbClr val="FFFFFF"/>
                </a:solidFill>
                <a:latin typeface="Century Gothic"/>
              </a:rPr>
              <a:t>Role-based workflows auto-route approvals</a:t>
            </a:r>
          </a:p>
          <a:p>
            <a:pPr algn="l">
              <a:lnSpc>
                <a:spcPts val="1950"/>
              </a:lnSpc>
            </a:pPr>
            <a:r>
              <a:rPr sz="1300" b="0">
                <a:solidFill>
                  <a:srgbClr val="FFFFFF"/>
                </a:solidFill>
                <a:latin typeface="Century Gothic"/>
              </a:rPr>
              <a:t>Waitlists handle cancellations instantly</a:t>
            </a:r>
          </a:p>
        </p:txBody>
      </p:sp>
    </p:spTree>
    <p:extLst>
      <p:ext uri="{BB962C8B-B14F-4D97-AF65-F5344CB8AC3E}">
        <p14:creationId xmlns:p14="http://schemas.microsoft.com/office/powerpoint/2010/main" val="3927058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4D1CA-09EA-6081-6FDC-8119DB12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</a:pPr>
            <a:r>
              <a:rPr sz="3200" b="1">
                <a:solidFill>
                  <a:srgbClr val="FFFFFF"/>
                </a:solidFill>
                <a:latin typeface="Century Gothic"/>
              </a:rPr>
              <a:t>Technical Strategy — Why This Stack?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2651760" cy="25603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>
                <a:solidFill>
                  <a:srgbClr val="FFFFFF"/>
                </a:solidFill>
                <a:latin typeface="Century Gothic"/>
              </a:rPr>
              <a:t>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>
                <a:solidFill>
                  <a:srgbClr val="FFFFFF"/>
                </a:solidFill>
                <a:latin typeface="Century Gothic"/>
              </a:rPr>
              <a:t>ACID compliance blocks duplicate slot allocation.</a:t>
            </a:r>
            <a:br/>
            <a:r>
              <a:rPr sz="1200" b="0">
                <a:solidFill>
                  <a:srgbClr val="FFFFFF"/>
                </a:solidFill>
                <a:latin typeface="Century Gothic"/>
              </a:rPr>
              <a:t>Strong relational model for complex booking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88720"/>
            <a:ext cx="2651760" cy="25603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>
                <a:solidFill>
                  <a:srgbClr val="FFFFFF"/>
                </a:solidFill>
                <a:latin typeface="Century Gothic"/>
              </a:rPr>
              <a:t>Supabase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91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>
                <a:solidFill>
                  <a:srgbClr val="FFFFFF"/>
                </a:solidFill>
                <a:latin typeface="Century Gothic"/>
              </a:rPr>
              <a:t>Out-of-the-box Auth with real-time sync.</a:t>
            </a:r>
            <a:br/>
            <a:r>
              <a:rPr sz="1200" b="0">
                <a:solidFill>
                  <a:srgbClr val="FFFFFF"/>
                </a:solidFill>
                <a:latin typeface="Century Gothic"/>
              </a:rPr>
              <a:t>Serverless — zero initial infrastructure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2651760" cy="25603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>
                <a:solidFill>
                  <a:srgbClr val="FFFFFF"/>
                </a:solidFill>
                <a:latin typeface="Century Gothic"/>
              </a:rPr>
              <a:t>React + Vercel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>
                <a:solidFill>
                  <a:srgbClr val="FFFFFF"/>
                </a:solidFill>
                <a:latin typeface="Century Gothic"/>
              </a:rPr>
              <a:t>Rapid prototyping with component reusability.</a:t>
            </a:r>
            <a:br/>
            <a:r>
              <a:rPr sz="1200" b="0">
                <a:solidFill>
                  <a:srgbClr val="FFFFFF"/>
                </a:solidFill>
                <a:latin typeface="Century Gothic"/>
              </a:rPr>
              <a:t>Global CDN for fast load times across campus.</a:t>
            </a:r>
          </a:p>
        </p:txBody>
      </p:sp>
    </p:spTree>
    <p:extLst>
      <p:ext uri="{BB962C8B-B14F-4D97-AF65-F5344CB8AC3E}">
        <p14:creationId xmlns:p14="http://schemas.microsoft.com/office/powerpoint/2010/main" val="458451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88C9C-AD10-5F62-CBB2-54F86662A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</a:pPr>
            <a:r>
              <a:rPr sz="3200" b="1">
                <a:solidFill>
                  <a:srgbClr val="FFFFFF"/>
                </a:solidFill>
                <a:latin typeface="Century Gothic"/>
              </a:rPr>
              <a:t>Methodology &amp; State Machine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868680"/>
            <a:ext cx="1600200" cy="457200"/>
          </a:xfrm>
          <a:prstGeom prst="roundRect">
            <a:avLst/>
          </a:prstGeom>
          <a:solidFill>
            <a:srgbClr val="1A3A1A"/>
          </a:solidFill>
          <a:ln w="1270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886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</a:pPr>
            <a:r>
              <a:rPr sz="1100" b="1">
                <a:solidFill>
                  <a:srgbClr val="CCFFCC"/>
                </a:solidFill>
                <a:latin typeface="Century Gothic"/>
              </a:rPr>
              <a:t>1.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46304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0">
                <a:solidFill>
                  <a:srgbClr val="FFFFFF"/>
                </a:solidFill>
                <a:latin typeface="Century Gothic"/>
              </a:rPr>
              <a:t>Secure login</a:t>
            </a:r>
            <a:br/>
            <a:r>
              <a:rPr sz="1000" b="0">
                <a:solidFill>
                  <a:srgbClr val="FFFFFF"/>
                </a:solidFill>
                <a:latin typeface="Century Gothic"/>
              </a:rPr>
              <a:t>with role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914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>
                <a:solidFill>
                  <a:srgbClr val="66FF66"/>
                </a:solidFill>
                <a:latin typeface="Century Gothic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8528" y="868680"/>
            <a:ext cx="1600200" cy="457200"/>
          </a:xfrm>
          <a:prstGeom prst="roundRect">
            <a:avLst/>
          </a:prstGeom>
          <a:solidFill>
            <a:srgbClr val="1A3A1A"/>
          </a:solidFill>
          <a:ln w="1270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4248" y="886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</a:pPr>
            <a:r>
              <a:rPr sz="1100" b="1">
                <a:solidFill>
                  <a:srgbClr val="CCFFCC"/>
                </a:solidFill>
                <a:latin typeface="Century Gothic"/>
              </a:rPr>
              <a:t>2.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146304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0">
                <a:solidFill>
                  <a:srgbClr val="FFFFFF"/>
                </a:solidFill>
                <a:latin typeface="Century Gothic"/>
              </a:rPr>
              <a:t>Live resource</a:t>
            </a:r>
            <a:br/>
            <a:r>
              <a:rPr sz="1000" b="0">
                <a:solidFill>
                  <a:srgbClr val="FFFFFF"/>
                </a:solidFill>
                <a:latin typeface="Century Gothic"/>
              </a:rPr>
              <a:t>search &amp; conflict-lock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914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>
                <a:solidFill>
                  <a:srgbClr val="66FF66"/>
                </a:solidFill>
                <a:latin typeface="Century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94176" y="868680"/>
            <a:ext cx="1600200" cy="457200"/>
          </a:xfrm>
          <a:prstGeom prst="roundRect">
            <a:avLst/>
          </a:prstGeom>
          <a:solidFill>
            <a:srgbClr val="1A3A1A"/>
          </a:solidFill>
          <a:ln w="1270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9896" y="886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</a:pPr>
            <a:r>
              <a:rPr sz="1100" b="1">
                <a:solidFill>
                  <a:srgbClr val="CCFFCC"/>
                </a:solidFill>
                <a:latin typeface="Century Gothic"/>
              </a:rPr>
              <a:t>3. SUBMIT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146304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0">
                <a:solidFill>
                  <a:srgbClr val="FFFFFF"/>
                </a:solidFill>
                <a:latin typeface="Century Gothic"/>
              </a:rPr>
              <a:t>Automated</a:t>
            </a:r>
            <a:br/>
            <a:r>
              <a:rPr sz="1000" b="0">
                <a:solidFill>
                  <a:srgbClr val="FFFFFF"/>
                </a:solidFill>
                <a:latin typeface="Century Gothic"/>
              </a:rPr>
              <a:t>waitlist /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914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>
                <a:solidFill>
                  <a:srgbClr val="66FF66"/>
                </a:solidFill>
                <a:latin typeface="Century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9824" y="868680"/>
            <a:ext cx="1600200" cy="457200"/>
          </a:xfrm>
          <a:prstGeom prst="roundRect">
            <a:avLst/>
          </a:prstGeom>
          <a:solidFill>
            <a:srgbClr val="1A3A1A"/>
          </a:solidFill>
          <a:ln w="1270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5544" y="886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</a:pPr>
            <a:r>
              <a:rPr sz="1100" b="1">
                <a:solidFill>
                  <a:srgbClr val="CCFFCC"/>
                </a:solidFill>
                <a:latin typeface="Century Gothic"/>
              </a:rPr>
              <a:t>4.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9824" y="146304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0">
                <a:solidFill>
                  <a:srgbClr val="FFFFFF"/>
                </a:solidFill>
                <a:latin typeface="Century Gothic"/>
              </a:rPr>
              <a:t>Instantly generated</a:t>
            </a:r>
            <a:br/>
            <a:r>
              <a:rPr sz="1000" b="0">
                <a:solidFill>
                  <a:srgbClr val="FFFFFF"/>
                </a:solidFill>
                <a:latin typeface="Century Gothic"/>
              </a:rPr>
              <a:t>QR check-in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914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>
                <a:solidFill>
                  <a:srgbClr val="66FF66"/>
                </a:solidFill>
                <a:latin typeface="Century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05472" y="868680"/>
            <a:ext cx="1600200" cy="457200"/>
          </a:xfrm>
          <a:prstGeom prst="roundRect">
            <a:avLst/>
          </a:prstGeom>
          <a:solidFill>
            <a:srgbClr val="1A3A1A"/>
          </a:solidFill>
          <a:ln w="1270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886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</a:pPr>
            <a:r>
              <a:rPr sz="1100" b="1">
                <a:solidFill>
                  <a:srgbClr val="CCFFCC"/>
                </a:solidFill>
                <a:latin typeface="Century Gothic"/>
              </a:rPr>
              <a:t>5.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146304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</a:pPr>
            <a:r>
              <a:rPr sz="1000" b="0">
                <a:solidFill>
                  <a:srgbClr val="FFFFFF"/>
                </a:solidFill>
                <a:latin typeface="Century Gothic"/>
              </a:rPr>
              <a:t>Utilization data</a:t>
            </a:r>
            <a:br/>
            <a:r>
              <a:rPr sz="1000" b="0">
                <a:solidFill>
                  <a:srgbClr val="FFFFFF"/>
                </a:solidFill>
                <a:latin typeface="Century Gothic"/>
              </a:rPr>
              <a:t>captured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>
                <a:solidFill>
                  <a:srgbClr val="FFFFFF"/>
                </a:solidFill>
                <a:latin typeface="Century Gothic"/>
              </a:rPr>
              <a:t>State Machine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017520"/>
            <a:ext cx="1600200" cy="502920"/>
          </a:xfrm>
          <a:prstGeom prst="roundRect">
            <a:avLst/>
          </a:prstGeom>
          <a:solidFill>
            <a:srgbClr val="00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0449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>
                <a:solidFill>
                  <a:srgbClr val="FFFFFF"/>
                </a:solidFill>
                <a:latin typeface="Century Gothic"/>
              </a:rPr>
              <a:t>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063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</a:pPr>
            <a:r>
              <a:rPr sz="1400" b="1">
                <a:solidFill>
                  <a:srgbClr val="888888"/>
                </a:solidFill>
                <a:latin typeface="Century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29967" y="3017520"/>
            <a:ext cx="1600200" cy="502920"/>
          </a:xfrm>
          <a:prstGeom prst="roundRect">
            <a:avLst/>
          </a:prstGeom>
          <a:solidFill>
            <a:srgbClr val="CC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75687" y="30449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>
                <a:solidFill>
                  <a:srgbClr val="FFFFFF"/>
                </a:solidFill>
                <a:latin typeface="Century Gothic"/>
              </a:rPr>
              <a:t>Pending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3063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</a:pPr>
            <a:r>
              <a:rPr sz="1400" b="1">
                <a:solidFill>
                  <a:srgbClr val="888888"/>
                </a:solidFill>
                <a:latin typeface="Century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85615" y="3017520"/>
            <a:ext cx="1600200" cy="502920"/>
          </a:xfrm>
          <a:prstGeom prst="round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31335" y="30449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>
                <a:solidFill>
                  <a:srgbClr val="FFFFFF"/>
                </a:solidFill>
                <a:latin typeface="Century Gothic"/>
              </a:rPr>
              <a:t>Confirmed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5816" y="3063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</a:pPr>
            <a:r>
              <a:rPr sz="1400" b="1">
                <a:solidFill>
                  <a:srgbClr val="888888"/>
                </a:solidFill>
                <a:latin typeface="Century Gothic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41264" y="3017520"/>
            <a:ext cx="1600200" cy="502920"/>
          </a:xfrm>
          <a:prstGeom prst="roundRect">
            <a:avLst/>
          </a:prstGeom>
          <a:solidFill>
            <a:srgbClr val="00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86983" y="30449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>
                <a:solidFill>
                  <a:srgbClr val="FFFFFF"/>
                </a:solidFill>
                <a:latin typeface="Century Gothic"/>
              </a:rPr>
              <a:t>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41464" y="3063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</a:pPr>
            <a:r>
              <a:rPr sz="1400" b="1">
                <a:solidFill>
                  <a:srgbClr val="888888"/>
                </a:solidFill>
                <a:latin typeface="Century Gothic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96912" y="3017520"/>
            <a:ext cx="1600200" cy="502920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42631" y="30449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>
                <a:solidFill>
                  <a:srgbClr val="FFFFFF"/>
                </a:solidFill>
                <a:latin typeface="Century Gothic"/>
              </a:rPr>
              <a:t>Cancelled</a:t>
            </a:r>
          </a:p>
        </p:txBody>
      </p:sp>
    </p:spTree>
    <p:extLst>
      <p:ext uri="{BB962C8B-B14F-4D97-AF65-F5344CB8AC3E}">
        <p14:creationId xmlns:p14="http://schemas.microsoft.com/office/powerpoint/2010/main" val="808193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2A3FD-6D6B-02CE-6816-929A2EEAB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</a:pPr>
            <a:r>
              <a:rPr sz="3200" b="1">
                <a:solidFill>
                  <a:srgbClr val="FFFFFF"/>
                </a:solidFill>
                <a:latin typeface="Century Gothic"/>
              </a:rPr>
              <a:t>Implementation — Secure Real-time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7315200" cy="1051560"/>
          </a:xfrm>
          <a:prstGeom prst="roundRect">
            <a:avLst/>
          </a:prstGeom>
          <a:solidFill>
            <a:srgbClr val="2A2A5E"/>
          </a:solidFill>
          <a:ln w="12700">
            <a:solidFill>
              <a:srgbClr val="88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241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00"/>
              </a:lnSpc>
            </a:pPr>
            <a:r>
              <a:rPr sz="1400" b="1">
                <a:solidFill>
                  <a:srgbClr val="8888FF"/>
                </a:solidFill>
                <a:latin typeface="Century Gothic"/>
              </a:rPr>
              <a:t>UI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15568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0">
                <a:solidFill>
                  <a:srgbClr val="FFFFFF"/>
                </a:solidFill>
                <a:latin typeface="Century Gothic"/>
              </a:rPr>
              <a:t>React communicates via lightweight API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057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>
                <a:solidFill>
                  <a:srgbClr val="888888"/>
                </a:solidFill>
                <a:latin typeface="Century Gothic"/>
              </a:rP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7315200" cy="1051560"/>
          </a:xfrm>
          <a:prstGeom prst="roundRect">
            <a:avLst/>
          </a:prstGeom>
          <a:solidFill>
            <a:srgbClr val="2A3A2A"/>
          </a:solidFill>
          <a:ln w="1270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3957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00"/>
              </a:lnSpc>
            </a:pPr>
            <a:r>
              <a:rPr sz="1400" b="1">
                <a:solidFill>
                  <a:srgbClr val="44CC44"/>
                </a:solidFill>
                <a:latin typeface="Century Gothic"/>
              </a:rPr>
              <a:t>Backend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87168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0">
                <a:solidFill>
                  <a:srgbClr val="FFFFFF"/>
                </a:solidFill>
                <a:latin typeface="Century Gothic"/>
              </a:rPr>
              <a:t>Postgres Row Level Security (RLS) prevents</a:t>
            </a:r>
            <a:br/>
            <a:r>
              <a:rPr sz="1300" b="0">
                <a:solidFill>
                  <a:srgbClr val="FFFFFF"/>
                </a:solidFill>
                <a:latin typeface="Century Gothic"/>
              </a:rPr>
              <a:t>arbitrary data table manipulation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429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>
                <a:solidFill>
                  <a:srgbClr val="888888"/>
                </a:solidFill>
                <a:latin typeface="Century Gothic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9039"/>
            <a:ext cx="7315200" cy="1051560"/>
          </a:xfrm>
          <a:prstGeom prst="roundRect">
            <a:avLst/>
          </a:prstGeom>
          <a:solidFill>
            <a:srgbClr val="3A2A2A"/>
          </a:solidFill>
          <a:ln w="12700">
            <a:solidFill>
              <a:srgbClr val="FF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76732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00"/>
              </a:lnSpc>
            </a:pPr>
            <a:r>
              <a:rPr sz="1400" b="1">
                <a:solidFill>
                  <a:srgbClr val="FF8888"/>
                </a:solidFill>
                <a:latin typeface="Century Gothic"/>
              </a:rPr>
              <a:t>Notification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58768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0">
                <a:solidFill>
                  <a:srgbClr val="FFFFFF"/>
                </a:solidFill>
                <a:latin typeface="Century Gothic"/>
              </a:rPr>
              <a:t>Real-time engine triggers instant updates</a:t>
            </a:r>
            <a:br/>
            <a:r>
              <a:rPr sz="1300" b="0">
                <a:solidFill>
                  <a:srgbClr val="FFFFFF"/>
                </a:solidFill>
                <a:latin typeface="Century Gothic"/>
              </a:rPr>
              <a:t>upon any status mutation</a:t>
            </a:r>
          </a:p>
        </p:txBody>
      </p:sp>
    </p:spTree>
    <p:extLst>
      <p:ext uri="{BB962C8B-B14F-4D97-AF65-F5344CB8AC3E}">
        <p14:creationId xmlns:p14="http://schemas.microsoft.com/office/powerpoint/2010/main" val="76940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E4D19-A5E8-1B5D-27B3-5D29FC355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</a:pPr>
            <a:r>
              <a:rPr sz="3200" b="1">
                <a:solidFill>
                  <a:srgbClr val="FFFFFF"/>
                </a:solidFill>
                <a:latin typeface="Century Gothic"/>
              </a:rPr>
              <a:t>Feasibility &amp;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4114800" cy="201168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Resource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Team Size: 3–4 specialized developers</a:t>
            </a:r>
          </a:p>
          <a:p>
            <a:pPr algn="l">
              <a:lnSpc>
                <a:spcPts val="143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Hosting: Serverless — free tiers of</a:t>
            </a:r>
          </a:p>
          <a:p>
            <a:pPr algn="l">
              <a:lnSpc>
                <a:spcPts val="143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  Supabase + Vercel (zero cost)</a:t>
            </a:r>
          </a:p>
          <a:p>
            <a:pPr algn="l">
              <a:lnSpc>
                <a:spcPts val="143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Data Security: End-to-end OAuth /</a:t>
            </a:r>
          </a:p>
          <a:p>
            <a:pPr algn="l">
              <a:lnSpc>
                <a:spcPts val="143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  secure tokens natively handled</a:t>
            </a:r>
          </a:p>
          <a:p>
            <a:pPr algn="l">
              <a:lnSpc>
                <a:spcPts val="1430"/>
              </a:lnSpc>
            </a:pPr>
          </a:p>
          <a:p>
            <a:pPr algn="l">
              <a:lnSpc>
                <a:spcPts val="143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Development Horizon:</a:t>
            </a:r>
          </a:p>
          <a:p>
            <a:pPr algn="l">
              <a:lnSpc>
                <a:spcPts val="143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  Day 1: Schema, auth, conflict-lock config</a:t>
            </a:r>
          </a:p>
          <a:p>
            <a:pPr algn="l">
              <a:lnSpc>
                <a:spcPts val="1430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  Day 2: Dashboard, approvals, QR, deploy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914400"/>
            <a:ext cx="4114800" cy="201168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2-Day Sprint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463040"/>
            <a:ext cx="3657600" cy="594360"/>
          </a:xfrm>
          <a:prstGeom prst="roundRect">
            <a:avLst/>
          </a:prstGeom>
          <a:solidFill>
            <a:srgbClr val="2A2A5E"/>
          </a:solidFill>
          <a:ln w="12700">
            <a:solidFill>
              <a:srgbClr val="66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4813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>
                <a:solidFill>
                  <a:srgbClr val="CCCCFF"/>
                </a:solidFill>
                <a:latin typeface="Century Gothic"/>
              </a:rPr>
              <a:t>Day 1: Schema → Auth → Conflict-lock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>
                <a:solidFill>
                  <a:srgbClr val="888888"/>
                </a:solidFill>
                <a:latin typeface="Century Gothic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331720"/>
            <a:ext cx="3657600" cy="594360"/>
          </a:xfrm>
          <a:prstGeom prst="roundRect">
            <a:avLst/>
          </a:prstGeom>
          <a:solidFill>
            <a:srgbClr val="2A3A2A"/>
          </a:solidFill>
          <a:ln w="1270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3500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>
                <a:solidFill>
                  <a:srgbClr val="CCFFCC"/>
                </a:solidFill>
                <a:latin typeface="Century Gothic"/>
              </a:rPr>
              <a:t>Day 2: Dashboard → Approvals → QR → Live</a:t>
            </a:r>
          </a:p>
        </p:txBody>
      </p:sp>
    </p:spTree>
    <p:extLst>
      <p:ext uri="{BB962C8B-B14F-4D97-AF65-F5344CB8AC3E}">
        <p14:creationId xmlns:p14="http://schemas.microsoft.com/office/powerpoint/2010/main" val="4206631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B9D70-B828-3301-F125-244040BF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</a:pPr>
            <a:r>
              <a:rPr sz="3200" b="1">
                <a:solidFill>
                  <a:srgbClr val="FFFFFF"/>
                </a:solidFill>
                <a:latin typeface="Century Gothic"/>
              </a:rPr>
              <a:t>Impact &amp; Benefits Envisaged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2743200" cy="237744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>
                <a:solidFill>
                  <a:srgbClr val="0088FF"/>
                </a:solidFill>
                <a:latin typeface="Century Gothic"/>
              </a:rPr>
              <a:t>For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FFFFFF"/>
                </a:solidFill>
                <a:latin typeface="Century Gothic"/>
              </a:rPr>
              <a:t>Frictionless digital reserve flow</a:t>
            </a:r>
          </a:p>
          <a:p>
            <a:pPr algn="l">
              <a:lnSpc>
                <a:spcPts val="1920"/>
              </a:lnSpc>
            </a:pPr>
            <a:r>
              <a:rPr sz="1200" b="0">
                <a:solidFill>
                  <a:srgbClr val="FFFFFF"/>
                </a:solidFill>
                <a:latin typeface="Century Gothic"/>
              </a:rPr>
              <a:t>Transparent calendar access</a:t>
            </a:r>
          </a:p>
          <a:p>
            <a:pPr algn="l">
              <a:lnSpc>
                <a:spcPts val="1920"/>
              </a:lnSpc>
            </a:pPr>
            <a:r>
              <a:rPr sz="1200" b="0">
                <a:solidFill>
                  <a:srgbClr val="FFFFFF"/>
                </a:solidFill>
                <a:latin typeface="Century Gothic"/>
              </a:rPr>
              <a:t>Lightning-fast approvals via automated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914400"/>
            <a:ext cx="2743200" cy="237744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00C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960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>
                <a:solidFill>
                  <a:srgbClr val="00CC88"/>
                </a:solidFill>
                <a:latin typeface="Century Gothic"/>
              </a:rPr>
              <a:t>For Faculty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FFFFFF"/>
                </a:solidFill>
                <a:latin typeface="Century Gothic"/>
              </a:rPr>
              <a:t>Conflict-free class/lab scheduling</a:t>
            </a:r>
          </a:p>
          <a:p>
            <a:pPr algn="l">
              <a:lnSpc>
                <a:spcPts val="1920"/>
              </a:lnSpc>
            </a:pPr>
            <a:r>
              <a:rPr sz="1200" b="0">
                <a:solidFill>
                  <a:srgbClr val="FFFFFF"/>
                </a:solidFill>
                <a:latin typeface="Century Gothic"/>
              </a:rPr>
              <a:t>Real-time status transparency</a:t>
            </a:r>
          </a:p>
          <a:p>
            <a:pPr algn="l">
              <a:lnSpc>
                <a:spcPts val="1920"/>
              </a:lnSpc>
            </a:pPr>
            <a:r>
              <a:rPr sz="1200" b="0">
                <a:solidFill>
                  <a:srgbClr val="FFFFFF"/>
                </a:solidFill>
                <a:latin typeface="Century Gothic"/>
              </a:rPr>
              <a:t>Automatic priority scheduling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914400"/>
            <a:ext cx="2743200" cy="237744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960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600" b="1">
                <a:solidFill>
                  <a:srgbClr val="FFAA00"/>
                </a:solidFill>
                <a:latin typeface="Century Gothic"/>
              </a:rPr>
              <a:t>For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FFFFFF"/>
                </a:solidFill>
                <a:latin typeface="Century Gothic"/>
              </a:rPr>
              <a:t>Complete structural audit logs</a:t>
            </a:r>
          </a:p>
          <a:p>
            <a:pPr algn="l">
              <a:lnSpc>
                <a:spcPts val="1920"/>
              </a:lnSpc>
            </a:pPr>
            <a:r>
              <a:rPr sz="1200" b="0">
                <a:solidFill>
                  <a:srgbClr val="FFFFFF"/>
                </a:solidFill>
                <a:latin typeface="Century Gothic"/>
              </a:rPr>
              <a:t>Drastic decrease in admin friction</a:t>
            </a:r>
          </a:p>
          <a:p>
            <a:pPr algn="l">
              <a:lnSpc>
                <a:spcPts val="1920"/>
              </a:lnSpc>
            </a:pPr>
            <a:r>
              <a:rPr sz="1200" b="0">
                <a:solidFill>
                  <a:srgbClr val="FFFFFF"/>
                </a:solidFill>
                <a:latin typeface="Century Gothic"/>
              </a:rPr>
              <a:t>Optimization insights for resource allocation</a:t>
            </a:r>
          </a:p>
        </p:txBody>
      </p:sp>
    </p:spTree>
    <p:extLst>
      <p:ext uri="{BB962C8B-B14F-4D97-AF65-F5344CB8AC3E}">
        <p14:creationId xmlns:p14="http://schemas.microsoft.com/office/powerpoint/2010/main" val="189812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01D9F0-CE9B-E855-AD24-313228AF3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sz="2800" b="1">
                <a:solidFill>
                  <a:srgbClr val="FFFFFF"/>
                </a:solidFill>
                <a:latin typeface="Century Gothic"/>
              </a:rPr>
              <a:t>Why This Idea May Fail — And How We Mitigate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2560320" cy="411480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>
                <a:solidFill>
                  <a:srgbClr val="FFCCCC"/>
                </a:solidFill>
                <a:latin typeface="Century Gothic"/>
              </a:rPr>
              <a:t>⚠ Resistance to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914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FFFFFF"/>
                </a:solidFill>
                <a:latin typeface="Century Gothic"/>
              </a:rPr>
              <a:t>Problem: Reluctance from admins to shift from physical registries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914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>
                <a:solidFill>
                  <a:srgbClr val="00FF88"/>
                </a:solidFill>
                <a:latin typeface="Century Gothic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914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FFFFFF"/>
                </a:solidFill>
                <a:latin typeface="Century Gothic"/>
              </a:rPr>
              <a:t>Fix: Clean, simple UI resembling consumer calendars; pilot in one tech department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560320"/>
            <a:ext cx="2560320" cy="411480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>
                <a:solidFill>
                  <a:srgbClr val="FFCCCC"/>
                </a:solidFill>
                <a:latin typeface="Century Gothic"/>
              </a:rPr>
              <a:t>⚠ Complex Bulk Bookings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560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FFFFFF"/>
                </a:solidFill>
                <a:latin typeface="Century Gothic"/>
              </a:rPr>
              <a:t>Problem: Difficulty handling manual group reservations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560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>
                <a:solidFill>
                  <a:srgbClr val="00FF88"/>
                </a:solidFill>
                <a:latin typeface="Century Gothic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60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FFFFFF"/>
                </a:solidFill>
                <a:latin typeface="Century Gothic"/>
              </a:rPr>
              <a:t>Fix: Automated waitlist + approval routing with bulk import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06240"/>
            <a:ext cx="2560320" cy="411480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224527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1">
                <a:solidFill>
                  <a:srgbClr val="FFCCCC"/>
                </a:solidFill>
                <a:latin typeface="Century Gothic"/>
              </a:rPr>
              <a:t>⚠ Connectivity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206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FFFFFF"/>
                </a:solidFill>
                <a:latin typeface="Century Gothic"/>
              </a:rPr>
              <a:t>Problem: Intermittent on-campus Wi-Fi / offline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206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>
                <a:solidFill>
                  <a:srgbClr val="00FF88"/>
                </a:solidFill>
                <a:latin typeface="Century Gothi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06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FFFFFF"/>
                </a:solidFill>
                <a:latin typeface="Century Gothic"/>
              </a:rPr>
              <a:t>Fix: Service worker + IndexedDB for offline check-in logging; syncs when back online</a:t>
            </a:r>
          </a:p>
        </p:txBody>
      </p:sp>
    </p:spTree>
    <p:extLst>
      <p:ext uri="{BB962C8B-B14F-4D97-AF65-F5344CB8AC3E}">
        <p14:creationId xmlns:p14="http://schemas.microsoft.com/office/powerpoint/2010/main" val="67733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37F83-A7C7-DD32-E5E5-57ADD7B9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</a:pPr>
            <a:r>
              <a:rPr sz="3200" b="1">
                <a:solidFill>
                  <a:srgbClr val="FFFFFF"/>
                </a:solidFill>
                <a:latin typeface="Century Gothic"/>
              </a:rPr>
              <a:t>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2743200" cy="21031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87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>
                <a:solidFill>
                  <a:srgbClr val="FFFFFF"/>
                </a:solidFill>
                <a:latin typeface="Century Gothic"/>
              </a:rPr>
              <a:t>🤖 AI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Predicts high-congestion times</a:t>
            </a:r>
            <a:br/>
            <a:r>
              <a:rPr sz="1100" b="0">
                <a:solidFill>
                  <a:srgbClr val="FFFFFF"/>
                </a:solidFill>
                <a:latin typeface="Century Gothic"/>
              </a:rPr>
              <a:t>and suggests alternate slots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914400"/>
            <a:ext cx="2743200" cy="21031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987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>
                <a:solidFill>
                  <a:srgbClr val="FFFFFF"/>
                </a:solidFill>
                <a:latin typeface="Century Gothic"/>
              </a:rPr>
              <a:t>🔒 Smart Lock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4630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IoT smart locks trigger</a:t>
            </a:r>
            <a:br/>
            <a:r>
              <a:rPr sz="1100" b="0">
                <a:solidFill>
                  <a:srgbClr val="FFFFFF"/>
                </a:solidFill>
                <a:latin typeface="Century Gothic"/>
              </a:rPr>
              <a:t>open-on-QR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914400"/>
            <a:ext cx="2743200" cy="21031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9875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>
                <a:solidFill>
                  <a:srgbClr val="FFFFFF"/>
                </a:solidFill>
                <a:latin typeface="Century Gothic"/>
              </a:rPr>
              <a:t>🏫 Multi-Campus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Scales seamlessly to</a:t>
            </a:r>
            <a:br/>
            <a:r>
              <a:rPr sz="1100" b="0">
                <a:solidFill>
                  <a:srgbClr val="FFFFFF"/>
                </a:solidFill>
                <a:latin typeface="Century Gothic"/>
              </a:rPr>
              <a:t>multi-branch institutes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383280"/>
            <a:ext cx="2743200" cy="21031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456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>
                <a:solidFill>
                  <a:srgbClr val="FFFFFF"/>
                </a:solidFill>
                <a:latin typeface="Century Gothic"/>
              </a:rPr>
              <a:t>📅 External Calendar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Sync bookings to Google &amp;</a:t>
            </a:r>
            <a:br/>
            <a:r>
              <a:rPr sz="1100" b="0">
                <a:solidFill>
                  <a:srgbClr val="FFFFFF"/>
                </a:solidFill>
                <a:latin typeface="Century Gothic"/>
              </a:rPr>
              <a:t>Outlook accounts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383280"/>
            <a:ext cx="2743200" cy="21031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456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>
                <a:solidFill>
                  <a:srgbClr val="FFFFFF"/>
                </a:solidFill>
                <a:latin typeface="Century Gothic"/>
              </a:rPr>
              <a:t>📊 Predictive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9319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Data-backed resource purchase</a:t>
            </a:r>
            <a:br/>
            <a:r>
              <a:rPr sz="1100" b="0">
                <a:solidFill>
                  <a:srgbClr val="FFFFFF"/>
                </a:solidFill>
                <a:latin typeface="Century Gothic"/>
              </a:rPr>
              <a:t>decisions for admin boards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383280"/>
            <a:ext cx="2743200" cy="2103120"/>
          </a:xfrm>
          <a:prstGeom prst="roundRect">
            <a:avLst/>
          </a:prstGeom>
          <a:solidFill>
            <a:srgbClr val="1A1A3E"/>
          </a:solidFill>
          <a:ln w="127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456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>
                <a:solidFill>
                  <a:srgbClr val="FFFFFF"/>
                </a:solidFill>
                <a:latin typeface="Century Gothic"/>
              </a:rPr>
              <a:t>📱 Native Mobile Apps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319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</a:pPr>
            <a:r>
              <a:rPr sz="1100" b="0">
                <a:solidFill>
                  <a:srgbClr val="FFFFFF"/>
                </a:solidFill>
                <a:latin typeface="Century Gothic"/>
              </a:rPr>
              <a:t>Dedicated lightweight iOS</a:t>
            </a:r>
            <a:br/>
            <a:r>
              <a:rPr sz="1100" b="0">
                <a:solidFill>
                  <a:srgbClr val="FFFFFF"/>
                </a:solidFill>
                <a:latin typeface="Century Gothic"/>
              </a:rPr>
              <a:t>&amp; Android clients</a:t>
            </a:r>
          </a:p>
        </p:txBody>
      </p:sp>
    </p:spTree>
    <p:extLst>
      <p:ext uri="{BB962C8B-B14F-4D97-AF65-F5344CB8AC3E}">
        <p14:creationId xmlns:p14="http://schemas.microsoft.com/office/powerpoint/2010/main" val="2161935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</a:pPr>
            <a:r>
              <a:rPr sz="3200" b="1">
                <a:solidFill>
                  <a:srgbClr val="FFFFFF"/>
                </a:solidFill>
                <a:latin typeface="Century Gothic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</a:pPr>
            <a:r>
              <a:rPr sz="1400" b="0">
                <a:solidFill>
                  <a:srgbClr val="FFFFFF"/>
                </a:solidFill>
                <a:latin typeface="Century Gothic"/>
              </a:rPr>
              <a:t>Supabase Documentation — https://supabase.com/docs</a:t>
            </a:r>
          </a:p>
          <a:p>
            <a:pPr algn="l">
              <a:lnSpc>
                <a:spcPts val="2520"/>
              </a:lnSpc>
            </a:pPr>
            <a:r>
              <a:rPr sz="1400" b="0">
                <a:solidFill>
                  <a:srgbClr val="FFFFFF"/>
                </a:solidFill>
                <a:latin typeface="Century Gothic"/>
              </a:rPr>
              <a:t>PostgreSQL ACID Transactions — https://www.postgresql.org/docs/current/transaction-iso.html</a:t>
            </a:r>
          </a:p>
          <a:p>
            <a:pPr algn="l">
              <a:lnSpc>
                <a:spcPts val="2520"/>
              </a:lnSpc>
            </a:pPr>
            <a:r>
              <a:rPr sz="1400" b="0">
                <a:solidFill>
                  <a:srgbClr val="FFFFFF"/>
                </a:solidFill>
                <a:latin typeface="Century Gothic"/>
              </a:rPr>
              <a:t>Row Level Security — https://supabase.com/docs/guides/auth/row-level-security</a:t>
            </a:r>
          </a:p>
          <a:p>
            <a:pPr algn="l">
              <a:lnSpc>
                <a:spcPts val="2520"/>
              </a:lnSpc>
            </a:pPr>
            <a:r>
              <a:rPr sz="1400" b="0">
                <a:solidFill>
                  <a:srgbClr val="FFFFFF"/>
                </a:solidFill>
                <a:latin typeface="Century Gothic"/>
              </a:rPr>
              <a:t>React — https://react.dev</a:t>
            </a:r>
          </a:p>
          <a:p>
            <a:pPr algn="l">
              <a:lnSpc>
                <a:spcPts val="2520"/>
              </a:lnSpc>
            </a:pPr>
            <a:r>
              <a:rPr sz="1400" b="0">
                <a:solidFill>
                  <a:srgbClr val="FFFFFF"/>
                </a:solidFill>
                <a:latin typeface="Century Gothic"/>
              </a:rPr>
              <a:t>Vercel Serverless Deployment — https://vercel.com/docs</a:t>
            </a:r>
          </a:p>
          <a:p>
            <a:pPr algn="l">
              <a:lnSpc>
                <a:spcPts val="2520"/>
              </a:lnSpc>
            </a:pPr>
            <a:r>
              <a:rPr sz="1400" b="0">
                <a:solidFill>
                  <a:srgbClr val="FFFFFF"/>
                </a:solidFill>
                <a:latin typeface="Century Gothic"/>
              </a:rPr>
              <a:t>python-pptx (slide generation) — https://python-pptx.readthedocs.io</a:t>
            </a:r>
          </a:p>
        </p:txBody>
      </p:sp>
    </p:spTree>
    <p:extLst>
      <p:ext uri="{BB962C8B-B14F-4D97-AF65-F5344CB8AC3E}">
        <p14:creationId xmlns:p14="http://schemas.microsoft.com/office/powerpoint/2010/main" val="2587659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</a:pPr>
            <a:r>
              <a:rPr sz="4800" b="1">
                <a:solidFill>
                  <a:srgbClr val="FFFFFF"/>
                </a:solidFill>
                <a:latin typeface="Century Gothic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0">
                <a:solidFill>
                  <a:srgbClr val="00FF88"/>
                </a:solidFill>
                <a:latin typeface="Century Gothic"/>
              </a:rPr>
              <a:t>APEX PREDATORS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40"/>
              </a:lnSpc>
            </a:pPr>
            <a:r>
              <a:rPr sz="1400" b="0">
                <a:solidFill>
                  <a:srgbClr val="FFFFFF"/>
                </a:solidFill>
                <a:latin typeface="Century Gothic"/>
              </a:rPr>
              <a:t>GitHub Repository: [link]</a:t>
            </a:r>
          </a:p>
          <a:p>
            <a:pPr algn="ctr">
              <a:lnSpc>
                <a:spcPts val="2240"/>
              </a:lnSpc>
            </a:pPr>
            <a:r>
              <a:rPr sz="1400" b="0">
                <a:solidFill>
                  <a:srgbClr val="FFFFFF"/>
                </a:solidFill>
                <a:latin typeface="Century Gothic"/>
              </a:rPr>
              <a:t>Live Demo: [link]</a:t>
            </a:r>
          </a:p>
          <a:p>
            <a:pPr algn="ctr">
              <a:lnSpc>
                <a:spcPts val="2240"/>
              </a:lnSpc>
            </a:pPr>
            <a:r>
              <a:rPr sz="1400" b="0">
                <a:solidFill>
                  <a:srgbClr val="FFFFFF"/>
                </a:solidFill>
                <a:latin typeface="Century Gothic"/>
              </a:rPr>
              <a:t>Contact: [team email]</a:t>
            </a:r>
          </a:p>
          <a:p>
            <a:pPr algn="ctr">
              <a:lnSpc>
                <a:spcPts val="2240"/>
              </a:lnSpc>
            </a:pPr>
          </a:p>
          <a:p>
            <a:pPr algn="ctr">
              <a:lnSpc>
                <a:spcPts val="2240"/>
              </a:lnSpc>
            </a:pPr>
            <a:r>
              <a:rPr sz="1400" b="0">
                <a:solidFill>
                  <a:srgbClr val="FFFFFF"/>
                </a:solidFill>
                <a:latin typeface="Century Gothic"/>
              </a:rPr>
              <a:t>Sponsored by</a:t>
            </a:r>
          </a:p>
          <a:p>
            <a:pPr algn="ctr">
              <a:lnSpc>
                <a:spcPts val="2240"/>
              </a:lnSpc>
            </a:pPr>
            <a:r>
              <a:rPr sz="1400" b="0">
                <a:solidFill>
                  <a:srgbClr val="FFFFFF"/>
                </a:solidFill>
                <a:latin typeface="Century Gothic"/>
              </a:rPr>
              <a:t>[Sponsor name / logo placeholder]</a:t>
            </a:r>
          </a:p>
        </p:txBody>
      </p:sp>
    </p:spTree>
    <p:extLst>
      <p:ext uri="{BB962C8B-B14F-4D97-AF65-F5344CB8AC3E}">
        <p14:creationId xmlns:p14="http://schemas.microsoft.com/office/powerpoint/2010/main" val="329888773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92</TotalTime>
  <Words>740</Words>
  <Application>Microsoft Office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Century Gothic</vt:lpstr>
      <vt:lpstr>Plus Jakarta Sans</vt:lpstr>
      <vt:lpstr>Plus Jakarta Sans Medium</vt:lpstr>
      <vt:lpstr>Plus Jakarta Sans SemiBold</vt:lpstr>
      <vt:lpstr>Space Grotesk</vt:lpstr>
      <vt:lpstr>Space Grotesk SemiBold</vt:lpstr>
      <vt:lpstr>Times New Roman</vt:lpstr>
      <vt:lpstr>Vapor Trail</vt:lpstr>
      <vt:lpstr>Campus Resource Management Platform</vt:lpstr>
      <vt:lpstr>Instructions</vt:lpstr>
      <vt:lpstr>Proposed Solution</vt:lpstr>
      <vt:lpstr>Technical Strategy</vt:lpstr>
      <vt:lpstr>Technical Strategy</vt:lpstr>
      <vt:lpstr>Technical Strategy</vt:lpstr>
      <vt:lpstr>Feasibility and viability</vt:lpstr>
      <vt:lpstr>Feasibility and viability</vt:lpstr>
      <vt:lpstr>Impact and benefits envisaged</vt:lpstr>
      <vt:lpstr>Why this idea may fail ?</vt:lpstr>
      <vt:lpstr>PowerPoint Presentation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Resource Management Platform</dc:title>
  <dc:creator>Joydeep Samanta</dc:creator>
  <cp:lastModifiedBy>Manav Yadav</cp:lastModifiedBy>
  <cp:revision>5</cp:revision>
  <dcterms:created xsi:type="dcterms:W3CDTF">2026-06-19T13:23:03Z</dcterms:created>
  <dcterms:modified xsi:type="dcterms:W3CDTF">2026-07-25T19:04:51Z</dcterms:modified>
</cp:coreProperties>
</file>