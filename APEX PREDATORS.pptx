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B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30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46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50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21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696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30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42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55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3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747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3035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119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927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329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421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28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617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5462-AD8A-295E-4E23-F37D3CAD6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173708"/>
            <a:ext cx="9448800" cy="1555427"/>
          </a:xfrm>
        </p:spPr>
        <p:txBody>
          <a:bodyPr>
            <a:normAutofit/>
          </a:bodyPr>
          <a:lstStyle/>
          <a:p>
            <a:pPr algn="ctr">
              <a:lnSpc>
                <a:spcPts val="4455"/>
              </a:lnSpc>
            </a:pPr>
            <a:r>
              <a:rPr lang="en-IN" sz="4400" b="1" dirty="0">
                <a:solidFill>
                  <a:srgbClr val="FFFFFF"/>
                </a:solidFill>
                <a:latin typeface="Space Grotesk"/>
              </a:rPr>
              <a:t>Campus Resource Management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9A628-9B6C-2728-0903-2B64EA8A9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906578"/>
            <a:ext cx="9448800" cy="685800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cs typeface="Times New Roman" panose="02020603050405020304" pitchFamily="18" charset="0"/>
              </a:rPr>
              <a:t>Proposed by : APEX PREDATORS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20427D-894F-6B68-2F0D-13B88C8B4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57948" y="-118381"/>
            <a:ext cx="6277897" cy="336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64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2889-59B9-56D6-0184-30FCD1CC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dirty="0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E627B-D038-88DE-712C-139824680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the presentation within the prescribed slide limit.</a:t>
            </a:r>
          </a:p>
          <a:p>
            <a:r>
              <a:rPr lang="en-US" b="1" dirty="0"/>
              <a:t>Allowed Font- Century Gothic, Times New Roman, Arial</a:t>
            </a:r>
          </a:p>
          <a:p>
            <a:r>
              <a:rPr lang="en-US" b="1" dirty="0"/>
              <a:t>Line spacing- 1.5, Font Color- White</a:t>
            </a:r>
            <a:endParaRPr lang="en-US" dirty="0"/>
          </a:p>
          <a:p>
            <a:r>
              <a:rPr lang="en-US" dirty="0"/>
              <a:t>Use concise text, visuals, and diagrams wherever appropriate.</a:t>
            </a:r>
          </a:p>
          <a:p>
            <a:r>
              <a:rPr lang="en-US" dirty="0"/>
              <a:t>Clearly explain the problem, proposed solution, feasibility, and expected impact.</a:t>
            </a:r>
          </a:p>
          <a:p>
            <a:r>
              <a:rPr lang="en-US" dirty="0"/>
              <a:t>Be realistic about challenges, risks, and implementation constraints.</a:t>
            </a:r>
          </a:p>
          <a:p>
            <a:r>
              <a:rPr lang="en-US" dirty="0"/>
              <a:t>Additional slides may be added only if essential to explain the idea.</a:t>
            </a:r>
          </a:p>
          <a:p>
            <a:r>
              <a:rPr lang="en-US" dirty="0"/>
              <a:t>Ensure all content is original and properly credited where external references are used.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4155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9F273-DA9D-33FC-A110-B6AB3712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Proposed Solution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904875" y="3167657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Legacy systems (paper ledgers, messy spreadsheets, informal messaging) in colleges cause chaotic resource planning: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3777257"/>
            <a:ext cx="451485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Double bookings &amp; scheduling overlap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4082057"/>
            <a:ext cx="451485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real-time availability checking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4386857"/>
            <a:ext cx="451485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Manual, slow administrative approvals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4691657"/>
            <a:ext cx="451485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Wasted facilities &amp; lack of accountability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875" y="2575559"/>
            <a:ext cx="1582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>
                <a:solidFill>
                  <a:srgbClr val="EF4444"/>
                </a:solidFill>
                <a:latin typeface="Space Grotesk"/>
              </a:rPr>
              <a:t>The Problem</a:t>
            </a:r>
            <a:endParaRPr lang="en-IN" b="1" dirty="0">
              <a:solidFill>
                <a:srgbClr val="EF4444"/>
              </a:solidFill>
              <a:latin typeface="Space Grotesk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10350" y="2758082"/>
            <a:ext cx="4940617" cy="266700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0B981"/>
                </a:solidFill>
                <a:latin typeface="Space Grotesk"/>
              </a:rPr>
              <a:t>The Solution (CRMP)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350" y="3167657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A unified digital cloud registry solving conflict-free campus asset distribution globally: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0850" y="3777257"/>
            <a:ext cx="451485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Atomic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</a:rPr>
              <a:t>db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-locking stops simultaneous 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0850" y="4082057"/>
            <a:ext cx="451485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Live calendar dashboard for students &amp; faculty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0850" y="4386857"/>
            <a:ext cx="451485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Role-based workflows auto-route approvals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0850" y="4691657"/>
            <a:ext cx="451485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Waitlists handle cancellations immediately</a:t>
            </a:r>
          </a:p>
        </p:txBody>
      </p:sp>
    </p:spTree>
    <p:extLst>
      <p:ext uri="{BB962C8B-B14F-4D97-AF65-F5344CB8AC3E}">
        <p14:creationId xmlns:p14="http://schemas.microsoft.com/office/powerpoint/2010/main" val="3927058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4D1CA-09EA-6081-6FDC-8119DB12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8CDF-194F-1B0A-2B88-D454258E2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Technical Strategy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596147"/>
              </p:ext>
            </p:extLst>
          </p:nvPr>
        </p:nvGraphicFramePr>
        <p:xfrm>
          <a:off x="581024" y="2286595"/>
          <a:ext cx="5707481" cy="3825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9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49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Service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Technology Choice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49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Frontend Framework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6B6D4"/>
                          </a:solidFill>
                          <a:latin typeface="Plus Jakarta Sans"/>
                        </a:rPr>
                        <a:t>React.js (Tailwind CSS)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49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Calendar 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6B6D4"/>
                          </a:solidFill>
                          <a:latin typeface="Plus Jakarta Sans"/>
                        </a:rPr>
                        <a:t>FullCalendar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492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9CA3AF"/>
                          </a:solidFill>
                          <a:latin typeface="Plus Jakarta Sans"/>
                        </a:rPr>
                        <a:t>Backend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10B981"/>
                          </a:solidFill>
                          <a:latin typeface="Plus Jakarta Sans"/>
                        </a:rPr>
                        <a:t>Supabase</a:t>
                      </a:r>
                      <a:r>
                        <a:rPr sz="1200" b="0" i="0" u="none" dirty="0">
                          <a:solidFill>
                            <a:srgbClr val="10B981"/>
                          </a:solidFill>
                          <a:latin typeface="Plus Jakarta Sans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10B981"/>
                          </a:solidFill>
                          <a:latin typeface="Plus Jakarta Sans"/>
                        </a:rPr>
                        <a:t>BaaS</a:t>
                      </a:r>
                      <a:endParaRPr sz="1200" b="0" i="0" u="none" dirty="0">
                        <a:solidFill>
                          <a:srgbClr val="10B98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49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Relational Database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10B981"/>
                          </a:solidFill>
                          <a:latin typeface="Plus Jakarta Sans"/>
                        </a:rPr>
                        <a:t>PostgreSQL (Supabase)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49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Authentication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10B981"/>
                          </a:solidFill>
                          <a:latin typeface="Plus Jakarta Sans"/>
                        </a:rPr>
                        <a:t>Supabase</a:t>
                      </a:r>
                      <a:r>
                        <a:rPr sz="1200" b="0" i="0" u="none" dirty="0">
                          <a:solidFill>
                            <a:srgbClr val="10B981"/>
                          </a:solidFill>
                          <a:latin typeface="Plus Jakarta Sans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10B981"/>
                          </a:solidFill>
                          <a:latin typeface="Plus Jakarta Sans"/>
                        </a:rPr>
                        <a:t>Auth</a:t>
                      </a:r>
                      <a:r>
                        <a:rPr sz="1200" b="0" i="0" u="none" dirty="0">
                          <a:solidFill>
                            <a:srgbClr val="10B981"/>
                          </a:solidFill>
                          <a:latin typeface="Plus Jakarta Sans"/>
                        </a:rPr>
                        <a:t> &amp; RBAC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49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Hosting &amp; Mail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06B6D4"/>
                          </a:solidFill>
                          <a:latin typeface="Plus Jakarta Sans"/>
                        </a:rPr>
                        <a:t>Vercel</a:t>
                      </a:r>
                      <a:r>
                        <a:rPr sz="1200" b="0" i="0" u="none" dirty="0">
                          <a:solidFill>
                            <a:srgbClr val="06B6D4"/>
                          </a:solidFill>
                          <a:latin typeface="Plus Jakarta Sans"/>
                        </a:rPr>
                        <a:t> + Resend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1775" y="2581870"/>
            <a:ext cx="497062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0B981"/>
                </a:solidFill>
                <a:latin typeface="Space Grotesk"/>
              </a:rPr>
              <a:t>Why This Stack?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5150" y="3039070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Atomic Transactions: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</a:rPr>
              <a:t>Postgres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ACID compliance blocks duplicate slot-allocation.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5150" y="3639145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Rapid Prototyping: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Out-of-the-box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</a:rPr>
              <a:t>Auth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&amp; real-time Sync from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</a:rPr>
              <a:t>Supabase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5150" y="4239220"/>
            <a:ext cx="4400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Enterprise Scalability: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Ready for campus deployment with zero initial overhead.</a:t>
            </a:r>
          </a:p>
        </p:txBody>
      </p:sp>
    </p:spTree>
    <p:extLst>
      <p:ext uri="{BB962C8B-B14F-4D97-AF65-F5344CB8AC3E}">
        <p14:creationId xmlns:p14="http://schemas.microsoft.com/office/powerpoint/2010/main" val="458451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8C9C-AD10-5F62-CBB2-54F86662A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03CE-BBAF-55A9-4F87-BF7D00021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Technical Strategy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E0536-D5DE-15FF-CCA0-1ADA737A5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5405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/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1410" y="3258145"/>
            <a:ext cx="17645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0B981"/>
                </a:solidFill>
                <a:latin typeface="Space Grotesk"/>
              </a:rPr>
              <a:t>1.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05795"/>
            <a:ext cx="168056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Plus Jakarta Sans"/>
              </a:rPr>
              <a:t>Secure login with role identification.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2556" y="3258145"/>
            <a:ext cx="17645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0B981"/>
                </a:solidFill>
                <a:latin typeface="Space Grotesk"/>
              </a:rPr>
              <a:t>2.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4570" y="3505795"/>
            <a:ext cx="168056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Plus Jakarta Sans"/>
              </a:rPr>
              <a:t>Live resource search &amp; conflict-lock.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3702" y="3258145"/>
            <a:ext cx="17645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0B981"/>
                </a:solidFill>
                <a:latin typeface="Space Grotesk"/>
              </a:rPr>
              <a:t>3.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5716" y="3505795"/>
            <a:ext cx="168056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Plus Jakarta Sans"/>
              </a:rPr>
              <a:t>Automated waitlist/approval routing.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4847" y="3258145"/>
            <a:ext cx="17645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0B981"/>
                </a:solidFill>
                <a:latin typeface="Space Grotesk"/>
              </a:rPr>
              <a:t>4.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862" y="3505795"/>
            <a:ext cx="168056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Plus Jakarta Sans"/>
              </a:rPr>
              <a:t>Instantly generated QR code check-in.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5993" y="3258145"/>
            <a:ext cx="17645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0B981"/>
                </a:solidFill>
                <a:latin typeface="Space Grotesk"/>
              </a:rPr>
              <a:t>5.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8007" y="3505795"/>
            <a:ext cx="168056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 dirty="0">
                <a:solidFill>
                  <a:srgbClr val="9CA3AF"/>
                </a:solidFill>
                <a:latin typeface="Plus Jakarta Sans"/>
              </a:rPr>
              <a:t>Resource utilization data captured.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4534495"/>
            <a:ext cx="10725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 i="0" u="none" dirty="0">
                <a:solidFill>
                  <a:srgbClr val="10B981"/>
                </a:solidFill>
                <a:latin typeface="Plus Jakarta Sans"/>
              </a:rPr>
              <a:t>State Machine:</a:t>
            </a:r>
            <a:r>
              <a:rPr sz="1200" b="0" i="0" u="none" dirty="0">
                <a:solidFill>
                  <a:srgbClr val="9CA3AF"/>
                </a:solidFill>
                <a:latin typeface="Plus Jakarta Sans Medium"/>
              </a:rPr>
              <a:t> Available → Pending → Confirmed → Completed / Cancelled</a:t>
            </a:r>
          </a:p>
        </p:txBody>
      </p:sp>
    </p:spTree>
    <p:extLst>
      <p:ext uri="{BB962C8B-B14F-4D97-AF65-F5344CB8AC3E}">
        <p14:creationId xmlns:p14="http://schemas.microsoft.com/office/powerpoint/2010/main" val="808193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A3FD-6D6B-02CE-6816-929A2EEAB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A788-F340-4DF9-7264-A9C312EA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Technical Strategy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72D8B-85C4-D678-60FF-980FE8F62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5405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/>
              <a:t>Implementation Process</a:t>
            </a:r>
          </a:p>
          <a:p>
            <a:pPr marL="0" indent="0" algn="ctr">
              <a:buNone/>
            </a:pPr>
            <a:r>
              <a:rPr lang="en-IN" b="1" dirty="0"/>
              <a:t>(Diagrams/Flowcharts)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45775"/>
            <a:ext cx="3124200" cy="3124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7510" y="3083729"/>
            <a:ext cx="559069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6B6D4"/>
                </a:solidFill>
                <a:latin typeface="Space Grotesk"/>
              </a:rPr>
              <a:t>Secure Real-time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7510" y="3452555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Decoupled UI Layer: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React communicates via lightweight API clients.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7510" y="3879275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solidFill>
                  <a:srgbClr val="FFFFFF"/>
                </a:solidFill>
                <a:latin typeface="Plus Jakarta Sans SemiBold"/>
              </a:rPr>
              <a:t>Postgres</a:t>
            </a: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 Row Level Security (RLS):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Prevents users from manipulating backend data tables arbitrarily.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2550" y="4534595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Instant Notification Pipe: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Real-time engine triggers instant updates upon status mutation.</a:t>
            </a:r>
          </a:p>
        </p:txBody>
      </p:sp>
    </p:spTree>
    <p:extLst>
      <p:ext uri="{BB962C8B-B14F-4D97-AF65-F5344CB8AC3E}">
        <p14:creationId xmlns:p14="http://schemas.microsoft.com/office/powerpoint/2010/main" val="76940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E4D19-A5E8-1B5D-27B3-5D29FC355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E899-B16F-047E-B26B-AD2FF5306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Feasibility and viability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9C69F-2D25-A3B3-A7AA-A1EADF0BA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5405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/>
              <a:t>Feasibility Analysis</a:t>
            </a:r>
          </a:p>
          <a:p>
            <a:pPr marL="0" indent="0" algn="ctr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76300" y="2948582"/>
            <a:ext cx="4970621" cy="266700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0B981"/>
                </a:solidFill>
                <a:latin typeface="Space Grotesk"/>
              </a:rPr>
              <a:t>Resource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3358157"/>
            <a:ext cx="4543425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9CA3AF"/>
                </a:solidFill>
                <a:latin typeface="Plus Jakarta Sans"/>
              </a:rPr>
              <a:t>Team Size: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3-4 specialized developers.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701057"/>
            <a:ext cx="45434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9CA3AF"/>
                </a:solidFill>
                <a:latin typeface="Plus Jakarta Sans"/>
              </a:rPr>
              <a:t>Hosting Infrastructure: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</a:rPr>
              <a:t>Serverless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architecture utilizing free tiers of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</a:rPr>
              <a:t>Supabase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&amp;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</a:rPr>
              <a:t>Vercel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4272557"/>
            <a:ext cx="45434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9CA3AF"/>
                </a:solidFill>
                <a:latin typeface="Plus Jakarta Sans"/>
              </a:rPr>
              <a:t>Data Security: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End-to-end OAuth / secure tokens natively handled.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948582"/>
            <a:ext cx="4970621" cy="26670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0B981"/>
                </a:solidFill>
                <a:latin typeface="Space Grotesk"/>
              </a:rPr>
              <a:t>Development Horizon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3358157"/>
            <a:ext cx="45434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9CA3AF"/>
                </a:solidFill>
                <a:latin typeface="Plus Jakarta Sans"/>
              </a:rPr>
              <a:t>Day 1: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Schema creation, backend authentication set up, conflict-lock configuration.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929657"/>
            <a:ext cx="45434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9CA3AF"/>
                </a:solidFill>
                <a:latin typeface="Plus Jakarta Sans"/>
              </a:rPr>
              <a:t>Day 2: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Dashboard visuals, Approval flow mechanics, QR generators, and Live Deploy.</a:t>
            </a:r>
          </a:p>
        </p:txBody>
      </p:sp>
    </p:spTree>
    <p:extLst>
      <p:ext uri="{BB962C8B-B14F-4D97-AF65-F5344CB8AC3E}">
        <p14:creationId xmlns:p14="http://schemas.microsoft.com/office/powerpoint/2010/main" val="420663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0BE7C-4895-9E0B-AA5E-DF6D8949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A1E7-0468-BDEF-9A43-15184A83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Feasibility and viability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069310"/>
              </p:ext>
            </p:extLst>
          </p:nvPr>
        </p:nvGraphicFramePr>
        <p:xfrm>
          <a:off x="454067" y="2298032"/>
          <a:ext cx="11283866" cy="3204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5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8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06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Anticipated Threat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Algorithmic Mitigation Strategy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Double Booking Race-conditions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Postgres serializable isolation level atomic transactions verify locks instantly.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0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Unauthorized Reservation Actions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Role-Based Access Control policies verified directly on Supabase endpoints.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0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Administrative Server Downtime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Multi-zone resilient PostgreSQL backup configurations hosted on AWS/Supabase.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06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Phantom/Fake Reservations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Automatic expirations with automated waitlist release rules running seamlessly.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07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Resource Wastage/Absenteeism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9CA3AF"/>
                          </a:solidFill>
                          <a:latin typeface="Plus Jakarta Sans"/>
                        </a:rPr>
                        <a:t>Enforce visual QR code confirmation check-ins strictly limiting unverified bookings.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876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B9D70-B828-3301-F125-244040BF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DDA5-4D5C-9E5F-C174-8803BE1A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Impact and benefits envisaged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742317" y="3491507"/>
            <a:ext cx="322696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6B6D4"/>
                </a:solidFill>
                <a:latin typeface="Space Grotesk"/>
              </a:rPr>
              <a:t>For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910607"/>
            <a:ext cx="30733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Frictionless digital reserve flow, transparent calendar access, and lightning-fast approvals via automated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59200" y="3491507"/>
            <a:ext cx="322712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6B6D4"/>
                </a:solidFill>
                <a:latin typeface="Space Grotesk"/>
              </a:rPr>
              <a:t>For Faculty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200" y="3910607"/>
            <a:ext cx="30734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Conflict-free class/lab scheduling, real-time status transparency, and automatic priority scheduling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9400" y="3491507"/>
            <a:ext cx="322696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6B6D4"/>
                </a:solidFill>
                <a:latin typeface="Space Grotesk"/>
              </a:rPr>
              <a:t>For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9400" y="3910607"/>
            <a:ext cx="3073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Complete structural audit logs, drastic decrease in administrative friction, and optimization insights.</a:t>
            </a:r>
          </a:p>
        </p:txBody>
      </p:sp>
    </p:spTree>
    <p:extLst>
      <p:ext uri="{BB962C8B-B14F-4D97-AF65-F5344CB8AC3E}">
        <p14:creationId xmlns:p14="http://schemas.microsoft.com/office/powerpoint/2010/main" val="189812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1D9F0-CE9B-E855-AD24-313228AF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6A1F-0B1A-433F-65D9-E876245B2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US" b="1" dirty="0"/>
              <a:t>Why this idea may fail ?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76300" y="3062882"/>
            <a:ext cx="4970621" cy="26670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0B981"/>
                </a:solidFill>
                <a:latin typeface="Space Grotesk"/>
              </a:rPr>
              <a:t>Resistance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672124"/>
            <a:ext cx="45434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Reluctance from administrators to shift from physical registries.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4043957"/>
            <a:ext cx="4543425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Difficulty handling complex bulk bookings manually.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386857"/>
            <a:ext cx="4543425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Intermittent on-campus connectivity issues.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062882"/>
            <a:ext cx="4970621" cy="266700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0B981"/>
                </a:solidFill>
                <a:latin typeface="Space Grotesk"/>
              </a:rPr>
              <a:t>Mitigation </a:t>
            </a:r>
            <a:r>
              <a:rPr sz="1650" b="1" i="0" u="none" dirty="0" err="1">
                <a:solidFill>
                  <a:srgbClr val="10B981"/>
                </a:solidFill>
                <a:latin typeface="Space Grotesk"/>
              </a:rPr>
              <a:t>Gameplan</a:t>
            </a:r>
            <a:endParaRPr sz="1650" b="1" i="0" u="none" dirty="0">
              <a:solidFill>
                <a:srgbClr val="10B981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72275" y="3472457"/>
            <a:ext cx="45434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A clean, incredibly simple UI resembling popular consumer calendars.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4043957"/>
            <a:ext cx="4543425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Rollout begins inside a single tech department pilot run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4386857"/>
            <a:ext cx="4543425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Service worker support to log check-ins offline.</a:t>
            </a:r>
          </a:p>
        </p:txBody>
      </p:sp>
    </p:spTree>
    <p:extLst>
      <p:ext uri="{BB962C8B-B14F-4D97-AF65-F5344CB8AC3E}">
        <p14:creationId xmlns:p14="http://schemas.microsoft.com/office/powerpoint/2010/main" val="67733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37F83-A7C7-DD32-E5E5-57ADD7B9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66875" y="3015257"/>
            <a:ext cx="428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AI Optimization: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Predicts high-congestion times and dynamically suggests alternate options.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6875" y="3615332"/>
            <a:ext cx="428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Smart Lock Hardware: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Integration with physical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</a:rPr>
              <a:t>IoT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smart locks triggering open-on-QR.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75" y="4215407"/>
            <a:ext cx="428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Multi-Campus Sync: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Seamless infrastructure scales to multi-branch institutes effortlessly.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0" y="3015257"/>
            <a:ext cx="428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External Calendar Connect: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Sync bookings straight to Google and Outlook accounts.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3615332"/>
            <a:ext cx="428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Predictive Capacity Planning: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Enables admin boards to evaluate resource-purchase decisions with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4215407"/>
            <a:ext cx="428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FFFFF"/>
                </a:solidFill>
                <a:latin typeface="Plus Jakarta Sans SemiBold"/>
              </a:rPr>
              <a:t>Native Mobile Apps: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 Dedicated light iOS &amp; Android client builds.</a:t>
            </a:r>
          </a:p>
        </p:txBody>
      </p:sp>
    </p:spTree>
    <p:extLst>
      <p:ext uri="{BB962C8B-B14F-4D97-AF65-F5344CB8AC3E}">
        <p14:creationId xmlns:p14="http://schemas.microsoft.com/office/powerpoint/2010/main" val="2161935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0588A2-1EBD-2CBD-1CAB-6C89A5869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REFERENCES </a:t>
            </a:r>
            <a:endParaRPr lang="en-IN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59" y="2463066"/>
            <a:ext cx="4478977" cy="2488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79581" y="3341106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CA3AF"/>
                </a:solidFill>
                <a:latin typeface="Plus Jakarta Sans"/>
              </a:rPr>
              <a:t>https://firebase.google.com/static/images/products/realtime-database/database-2.png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580" y="3707226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CA3AF"/>
                </a:solidFill>
                <a:latin typeface="Plus Jakarta Sans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Plus Jakarta Sans"/>
              </a:rPr>
              <a:t>firebase.google.com</a:t>
            </a:r>
          </a:p>
        </p:txBody>
      </p:sp>
    </p:spTree>
    <p:extLst>
      <p:ext uri="{BB962C8B-B14F-4D97-AF65-F5344CB8AC3E}">
        <p14:creationId xmlns:p14="http://schemas.microsoft.com/office/powerpoint/2010/main" val="2587659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5681-8DC1-3482-1406-1FD8D5A23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333085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E553F-5030-26D9-CE2C-01A3DE362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61851"/>
            <a:ext cx="9448800" cy="685800"/>
          </a:xfrm>
        </p:spPr>
        <p:txBody>
          <a:bodyPr/>
          <a:lstStyle/>
          <a:p>
            <a:pPr algn="ctr"/>
            <a:r>
              <a:rPr lang="en-IN" dirty="0"/>
              <a:t>Sponsored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64A6D5-B7AA-A95C-4AF9-7C05E711A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16" y="3703076"/>
            <a:ext cx="10353368" cy="90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8773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92</TotalTime>
  <Words>740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Century Gothic</vt:lpstr>
      <vt:lpstr>Plus Jakarta Sans</vt:lpstr>
      <vt:lpstr>Plus Jakarta Sans Medium</vt:lpstr>
      <vt:lpstr>Plus Jakarta Sans SemiBold</vt:lpstr>
      <vt:lpstr>Space Grotesk</vt:lpstr>
      <vt:lpstr>Space Grotesk SemiBold</vt:lpstr>
      <vt:lpstr>Times New Roman</vt:lpstr>
      <vt:lpstr>Vapor Trail</vt:lpstr>
      <vt:lpstr>Campus Resource Management Platform</vt:lpstr>
      <vt:lpstr>Instructions</vt:lpstr>
      <vt:lpstr>Proposed Solution</vt:lpstr>
      <vt:lpstr>Technical Strategy</vt:lpstr>
      <vt:lpstr>Technical Strategy</vt:lpstr>
      <vt:lpstr>Technical Strategy</vt:lpstr>
      <vt:lpstr>Feasibility and viability</vt:lpstr>
      <vt:lpstr>Feasibility and viability</vt:lpstr>
      <vt:lpstr>Impact and benefits envisaged</vt:lpstr>
      <vt:lpstr>Why this idea may fail ?</vt:lpstr>
      <vt:lpstr>PowerPoint Presentation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Resource Management Platform</dc:title>
  <dc:creator>Joydeep Samanta</dc:creator>
  <cp:lastModifiedBy>Manav Yadav</cp:lastModifiedBy>
  <cp:revision>5</cp:revision>
  <dcterms:created xsi:type="dcterms:W3CDTF">2026-06-19T13:23:03Z</dcterms:created>
  <dcterms:modified xsi:type="dcterms:W3CDTF">2026-07-25T19:04:51Z</dcterms:modified>
</cp:coreProperties>
</file>